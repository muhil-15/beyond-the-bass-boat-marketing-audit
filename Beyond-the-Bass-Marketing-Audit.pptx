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Helvetica Now Bold" charset="1" panose="020B0804030202020204"/>
      <p:regular r:id="rId15"/>
    </p:embeddedFont>
    <p:embeddedFont>
      <p:font typeface="Helvetica Now" charset="1" panose="020B0504030202020204"/>
      <p:regular r:id="rId16"/>
    </p:embeddedFont>
    <p:embeddedFont>
      <p:font typeface="Helvetica Now Heavy" charset="1" panose="020B0A04030202020204"/>
      <p:regular r:id="rId17"/>
    </p:embeddedFont>
    <p:embeddedFont>
      <p:font typeface="Arial" charset="1" panose="020B0604020202020204"/>
      <p:regular r:id="rId18"/>
    </p:embeddedFont>
    <p:embeddedFont>
      <p:font typeface="Roboto Bold" charset="1" panose="02000000000000000000"/>
      <p:regular r:id="rId19"/>
    </p:embeddedFont>
    <p:embeddedFont>
      <p:font typeface="Roboto" charset="1" panose="02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png" Type="http://schemas.openxmlformats.org/officeDocument/2006/relationships/image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png" Type="http://schemas.openxmlformats.org/officeDocument/2006/relationships/image"/><Relationship Id="rId12" Target="../media/image32.png" Type="http://schemas.openxmlformats.org/officeDocument/2006/relationships/image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28.pn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Relationship Id="rId6" Target="../media/image37.png" Type="http://schemas.openxmlformats.org/officeDocument/2006/relationships/image"/><Relationship Id="rId7" Target="../media/image38.png" Type="http://schemas.openxmlformats.org/officeDocument/2006/relationships/image"/><Relationship Id="rId8" Target="../media/image3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pn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Relationship Id="rId6" Target="../media/image44.png" Type="http://schemas.openxmlformats.org/officeDocument/2006/relationships/image"/><Relationship Id="rId7" Target="../media/image45.png" Type="http://schemas.openxmlformats.org/officeDocument/2006/relationships/image"/><Relationship Id="rId8" Target="../media/image46.pn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6.png" Type="http://schemas.openxmlformats.org/officeDocument/2006/relationships/image"/><Relationship Id="rId11" Target="../media/image57.png" Type="http://schemas.openxmlformats.org/officeDocument/2006/relationships/image"/><Relationship Id="rId12" Target="../media/image58.png" Type="http://schemas.openxmlformats.org/officeDocument/2006/relationships/image"/><Relationship Id="rId13" Target="../media/image59.png" Type="http://schemas.openxmlformats.org/officeDocument/2006/relationships/image"/><Relationship Id="rId14" Target="../media/image60.png" Type="http://schemas.openxmlformats.org/officeDocument/2006/relationships/image"/><Relationship Id="rId2" Target="../media/image48.png" Type="http://schemas.openxmlformats.org/officeDocument/2006/relationships/image"/><Relationship Id="rId3" Target="../media/image49.png" Type="http://schemas.openxmlformats.org/officeDocument/2006/relationships/image"/><Relationship Id="rId4" Target="../media/image50.png" Type="http://schemas.openxmlformats.org/officeDocument/2006/relationships/image"/><Relationship Id="rId5" Target="../media/image51.png" Type="http://schemas.openxmlformats.org/officeDocument/2006/relationships/image"/><Relationship Id="rId6" Target="../media/image52.png" Type="http://schemas.openxmlformats.org/officeDocument/2006/relationships/image"/><Relationship Id="rId7" Target="../media/image53.png" Type="http://schemas.openxmlformats.org/officeDocument/2006/relationships/image"/><Relationship Id="rId8" Target="../media/image54.png" Type="http://schemas.openxmlformats.org/officeDocument/2006/relationships/image"/><Relationship Id="rId9" Target="../media/image5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1.png" Type="http://schemas.openxmlformats.org/officeDocument/2006/relationships/image"/><Relationship Id="rId3" Target="../media/image62.png" Type="http://schemas.openxmlformats.org/officeDocument/2006/relationships/image"/><Relationship Id="rId4" Target="../media/image63.png" Type="http://schemas.openxmlformats.org/officeDocument/2006/relationships/image"/><Relationship Id="rId5" Target="../media/image64.png" Type="http://schemas.openxmlformats.org/officeDocument/2006/relationships/image"/><Relationship Id="rId6" Target="../media/image65.png" Type="http://schemas.openxmlformats.org/officeDocument/2006/relationships/image"/><Relationship Id="rId7" Target="../media/image6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83110" y="1705390"/>
            <a:ext cx="6759560" cy="6876220"/>
          </a:xfrm>
          <a:custGeom>
            <a:avLst/>
            <a:gdLst/>
            <a:ahLst/>
            <a:cxnLst/>
            <a:rect r="r" b="b" t="t" l="l"/>
            <a:pathLst>
              <a:path h="6876220" w="6759560">
                <a:moveTo>
                  <a:pt x="0" y="0"/>
                </a:moveTo>
                <a:lnTo>
                  <a:pt x="6759560" y="0"/>
                </a:lnTo>
                <a:lnTo>
                  <a:pt x="6759560" y="6876220"/>
                </a:lnTo>
                <a:lnTo>
                  <a:pt x="0" y="687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01951" y="1684335"/>
            <a:ext cx="5529887" cy="1659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64"/>
              </a:lnSpc>
            </a:pPr>
            <a:r>
              <a:rPr lang="en-US" sz="12564" spc="-251" b="true">
                <a:solidFill>
                  <a:srgbClr val="FAFAFA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Beyond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7115" y="3174077"/>
            <a:ext cx="7013507" cy="1886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19"/>
              </a:lnSpc>
            </a:pPr>
            <a:r>
              <a:rPr lang="en-US" sz="14119" spc="-282" b="true">
                <a:solidFill>
                  <a:srgbClr val="D12B2B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the Bass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5330" y="5138034"/>
            <a:ext cx="1542230" cy="229572"/>
          </a:xfrm>
          <a:custGeom>
            <a:avLst/>
            <a:gdLst/>
            <a:ahLst/>
            <a:cxnLst/>
            <a:rect r="r" b="b" t="t" l="l"/>
            <a:pathLst>
              <a:path h="229572" w="1542230">
                <a:moveTo>
                  <a:pt x="0" y="0"/>
                </a:moveTo>
                <a:lnTo>
                  <a:pt x="1542230" y="0"/>
                </a:lnTo>
                <a:lnTo>
                  <a:pt x="154223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03511" y="5614536"/>
            <a:ext cx="6304567" cy="159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3036">
                <a:solidFill>
                  <a:srgbClr val="FAFAFA"/>
                </a:solidFill>
                <a:latin typeface="Helvetica Now"/>
                <a:ea typeface="Helvetica Now"/>
                <a:cs typeface="Helvetica Now"/>
                <a:sym typeface="Helvetica Now"/>
              </a:rPr>
              <a:t>A public-source digital marketing audit of</a:t>
            </a:r>
          </a:p>
          <a:p>
            <a:pPr algn="l">
              <a:lnSpc>
                <a:spcPts val="4252"/>
              </a:lnSpc>
            </a:pPr>
            <a:r>
              <a:rPr lang="en-US" sz="3036" b="true">
                <a:solidFill>
                  <a:srgbClr val="D12B2B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boAt Airdopes 131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3511" y="7448586"/>
            <a:ext cx="5953337" cy="720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3"/>
              </a:lnSpc>
            </a:pPr>
            <a:r>
              <a:rPr lang="en-US" sz="4244" b="true">
                <a:solidFill>
                  <a:srgbClr val="D12B2B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J.S.Muhil Vannan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7858" y="9030004"/>
            <a:ext cx="3939167" cy="568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</a:pPr>
            <a:r>
              <a:rPr lang="en-US" sz="1608">
                <a:solidFill>
                  <a:srgbClr val="FAFAFA"/>
                </a:solidFill>
                <a:latin typeface="Helvetica Now"/>
                <a:ea typeface="Helvetica Now"/>
                <a:cs typeface="Helvetica Now"/>
                <a:sym typeface="Helvetica Now"/>
              </a:rPr>
              <a:t>Findings are directional.</a:t>
            </a:r>
          </a:p>
          <a:p>
            <a:pPr algn="l">
              <a:lnSpc>
                <a:spcPts val="2252"/>
              </a:lnSpc>
            </a:pPr>
            <a:r>
              <a:rPr lang="en-US" sz="1608">
                <a:solidFill>
                  <a:srgbClr val="FAFAFA"/>
                </a:solidFill>
                <a:latin typeface="Helvetica Now"/>
                <a:ea typeface="Helvetica Now"/>
                <a:cs typeface="Helvetica Now"/>
                <a:sym typeface="Helvetica Now"/>
              </a:rPr>
              <a:t>No internal performance data accessed.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1758134" cy="10287000"/>
          </a:xfrm>
          <a:custGeom>
            <a:avLst/>
            <a:gdLst/>
            <a:ahLst/>
            <a:cxnLst/>
            <a:rect r="r" b="b" t="t" l="l"/>
            <a:pathLst>
              <a:path h="10287000" w="11758134">
                <a:moveTo>
                  <a:pt x="0" y="0"/>
                </a:moveTo>
                <a:lnTo>
                  <a:pt x="11758134" y="0"/>
                </a:lnTo>
                <a:lnTo>
                  <a:pt x="1175813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706488" y="0"/>
            <a:ext cx="3051646" cy="10287000"/>
          </a:xfrm>
          <a:custGeom>
            <a:avLst/>
            <a:gdLst/>
            <a:ahLst/>
            <a:cxnLst/>
            <a:rect r="r" b="b" t="t" l="l"/>
            <a:pathLst>
              <a:path h="10287000" w="3051646">
                <a:moveTo>
                  <a:pt x="0" y="0"/>
                </a:moveTo>
                <a:lnTo>
                  <a:pt x="3051646" y="0"/>
                </a:lnTo>
                <a:lnTo>
                  <a:pt x="30516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883110" y="1497682"/>
            <a:ext cx="6759560" cy="6865288"/>
          </a:xfrm>
          <a:custGeom>
            <a:avLst/>
            <a:gdLst/>
            <a:ahLst/>
            <a:cxnLst/>
            <a:rect r="r" b="b" t="t" l="l"/>
            <a:pathLst>
              <a:path h="6865288" w="6759560">
                <a:moveTo>
                  <a:pt x="0" y="0"/>
                </a:moveTo>
                <a:lnTo>
                  <a:pt x="6759560" y="0"/>
                </a:lnTo>
                <a:lnTo>
                  <a:pt x="6759560" y="6865288"/>
                </a:lnTo>
                <a:lnTo>
                  <a:pt x="0" y="68652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67813" y="658346"/>
            <a:ext cx="2870254" cy="1037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2"/>
              </a:lnSpc>
            </a:pPr>
            <a:r>
              <a:rPr lang="en-US" sz="7822" b="true">
                <a:solidFill>
                  <a:srgbClr val="FFFFFF">
                    <a:alpha val="89804"/>
                  </a:srgbClr>
                </a:solidFill>
                <a:latin typeface="Helvetica Now Heavy"/>
                <a:ea typeface="Helvetica Now Heavy"/>
                <a:cs typeface="Helvetica Now Heavy"/>
                <a:sym typeface="Helvetica Now Heavy"/>
              </a:rPr>
              <a:t>Audit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5441" y="1712488"/>
            <a:ext cx="9107446" cy="994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3"/>
              </a:lnSpc>
            </a:pPr>
            <a:r>
              <a:rPr lang="en-US" sz="7543" b="true">
                <a:solidFill>
                  <a:srgbClr val="D63030"/>
                </a:solidFill>
                <a:latin typeface="Helvetica Now Heavy"/>
                <a:ea typeface="Helvetica Now Heavy"/>
                <a:cs typeface="Helvetica Now Heavy"/>
                <a:sym typeface="Helvetica Now Heavy"/>
              </a:rPr>
              <a:t>Question &amp; Scope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45330" y="2776725"/>
            <a:ext cx="1323474" cy="229572"/>
          </a:xfrm>
          <a:custGeom>
            <a:avLst/>
            <a:gdLst/>
            <a:ahLst/>
            <a:cxnLst/>
            <a:rect r="r" b="b" t="t" l="l"/>
            <a:pathLst>
              <a:path h="229572" w="1323474">
                <a:moveTo>
                  <a:pt x="0" y="0"/>
                </a:moveTo>
                <a:lnTo>
                  <a:pt x="1323474" y="0"/>
                </a:lnTo>
                <a:lnTo>
                  <a:pt x="132347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00405" y="3498058"/>
            <a:ext cx="2290009" cy="439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759" b="true">
                <a:solidFill>
                  <a:srgbClr val="D6303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Evaluated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9131" y="3974671"/>
            <a:ext cx="6417401" cy="807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7"/>
              </a:lnSpc>
            </a:pPr>
            <a:r>
              <a:rPr lang="en-US" sz="2575">
                <a:solidFill>
                  <a:srgbClr val="FFFFFF">
                    <a:alpha val="89804"/>
                  </a:srgbClr>
                </a:solidFill>
                <a:latin typeface="Helvetica Now"/>
                <a:ea typeface="Helvetica Now"/>
                <a:cs typeface="Helvetica Now"/>
                <a:sym typeface="Helvetica Now"/>
              </a:rPr>
              <a:t>Discovery, product-page clarity, competitor comparison, shopper journey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01520" y="5275237"/>
            <a:ext cx="2178479" cy="439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759" b="true">
                <a:solidFill>
                  <a:srgbClr val="D6303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Reviewed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7051" y="5781972"/>
            <a:ext cx="4625333" cy="1628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7"/>
              </a:lnSpc>
            </a:pPr>
            <a:r>
              <a:rPr lang="en-US" sz="2575">
                <a:solidFill>
                  <a:srgbClr val="FFFFFF">
                    <a:alpha val="89804"/>
                  </a:srgbClr>
                </a:solidFill>
                <a:latin typeface="Helvetica Now"/>
                <a:ea typeface="Helvetica Now"/>
                <a:cs typeface="Helvetica Now"/>
                <a:sym typeface="Helvetica Now"/>
              </a:rPr>
              <a:t>Official product/brand pages, reported social examples, selected Google search snapshots, competitor pages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4447" y="7910884"/>
            <a:ext cx="1885804" cy="439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759" b="true">
                <a:solidFill>
                  <a:srgbClr val="D6303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Limitations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8488" y="8402571"/>
            <a:ext cx="6481690" cy="121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7"/>
              </a:lnSpc>
            </a:pPr>
            <a:r>
              <a:rPr lang="en-US" sz="2575">
                <a:solidFill>
                  <a:srgbClr val="FFFFFF">
                    <a:alpha val="89804"/>
                  </a:srgbClr>
                </a:solidFill>
                <a:latin typeface="Helvetica Now"/>
                <a:ea typeface="Helvetica Now"/>
                <a:cs typeface="Helvetica Now"/>
                <a:sym typeface="Helvetica Now"/>
              </a:rPr>
              <a:t>No access to ad spend, CTR, conversions, ROAS, customer-level data,</a:t>
            </a:r>
          </a:p>
          <a:p>
            <a:pPr algn="l">
              <a:lnSpc>
                <a:spcPts val="3347"/>
              </a:lnSpc>
            </a:pPr>
            <a:r>
              <a:rPr lang="en-US" sz="2575">
                <a:solidFill>
                  <a:srgbClr val="FFFFFF">
                    <a:alpha val="89804"/>
                  </a:srgbClr>
                </a:solidFill>
                <a:latin typeface="Helvetica Now"/>
                <a:ea typeface="Helvetica Now"/>
                <a:cs typeface="Helvetica Now"/>
                <a:sym typeface="Helvetica Now"/>
              </a:rPr>
              <a:t>or internal sales data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5609" y="626733"/>
            <a:ext cx="3448432" cy="1094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80"/>
              </a:lnSpc>
            </a:pPr>
            <a:r>
              <a:rPr lang="en-US" sz="8380" b="true">
                <a:solidFill>
                  <a:srgbClr val="FFFFFF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Digital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81990" y="1726175"/>
            <a:ext cx="6810386" cy="1094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80"/>
              </a:lnSpc>
            </a:pPr>
            <a:r>
              <a:rPr lang="en-US" sz="8380" b="true">
                <a:solidFill>
                  <a:srgbClr val="D6262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Touchpoints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2776725"/>
            <a:ext cx="1323474" cy="448211"/>
          </a:xfrm>
          <a:custGeom>
            <a:avLst/>
            <a:gdLst/>
            <a:ahLst/>
            <a:cxnLst/>
            <a:rect r="r" b="b" t="t" l="l"/>
            <a:pathLst>
              <a:path h="448211" w="1323474">
                <a:moveTo>
                  <a:pt x="0" y="0"/>
                </a:moveTo>
                <a:lnTo>
                  <a:pt x="1323474" y="0"/>
                </a:lnTo>
                <a:lnTo>
                  <a:pt x="1323474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34392" y="3421712"/>
            <a:ext cx="7634584" cy="2579949"/>
          </a:xfrm>
          <a:custGeom>
            <a:avLst/>
            <a:gdLst/>
            <a:ahLst/>
            <a:cxnLst/>
            <a:rect r="r" b="b" t="t" l="l"/>
            <a:pathLst>
              <a:path h="2579949" w="7634584">
                <a:moveTo>
                  <a:pt x="0" y="0"/>
                </a:moveTo>
                <a:lnTo>
                  <a:pt x="7634584" y="0"/>
                </a:lnTo>
                <a:lnTo>
                  <a:pt x="7634584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45330" y="3421712"/>
            <a:ext cx="448450" cy="2579949"/>
          </a:xfrm>
          <a:custGeom>
            <a:avLst/>
            <a:gdLst/>
            <a:ahLst/>
            <a:cxnLst/>
            <a:rect r="r" b="b" t="t" l="l"/>
            <a:pathLst>
              <a:path h="2579949" w="448450">
                <a:moveTo>
                  <a:pt x="0" y="0"/>
                </a:moveTo>
                <a:lnTo>
                  <a:pt x="448450" y="0"/>
                </a:lnTo>
                <a:lnTo>
                  <a:pt x="448450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11437" y="3550474"/>
            <a:ext cx="2541253" cy="373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b="true" sz="2016" spc="-19">
                <a:solidFill>
                  <a:srgbClr val="D62626">
                    <a:alpha val="84706"/>
                  </a:srgbClr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SOCIAL ECOSYSTEM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7067" y="3948401"/>
            <a:ext cx="7180665" cy="1773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8437" indent="-239218" lvl="1">
              <a:lnSpc>
                <a:spcPts val="3544"/>
              </a:lnSpc>
              <a:buFont typeface="Arial"/>
              <a:buChar char="•"/>
            </a:pPr>
            <a:r>
              <a:rPr lang="en-US" sz="2216" spc="-21">
                <a:solidFill>
                  <a:srgbClr val="FFFFFF">
                    <a:alpha val="84706"/>
                  </a:srgbClr>
                </a:solidFill>
                <a:latin typeface="Arial"/>
                <a:ea typeface="Arial"/>
                <a:cs typeface="Arial"/>
                <a:sym typeface="Arial"/>
              </a:rPr>
              <a:t>Diverse mix of use cases across reels and posts</a:t>
            </a:r>
          </a:p>
          <a:p>
            <a:pPr algn="l" marL="478437" indent="-239218" lvl="1">
              <a:lnSpc>
                <a:spcPts val="3544"/>
              </a:lnSpc>
              <a:buFont typeface="Arial"/>
              <a:buChar char="•"/>
            </a:pPr>
            <a:r>
              <a:rPr lang="en-US" sz="2216" spc="-21">
                <a:solidFill>
                  <a:srgbClr val="FFFFFF">
                    <a:alpha val="84706"/>
                  </a:srgbClr>
                </a:solidFill>
                <a:latin typeface="Arial"/>
                <a:ea typeface="Arial"/>
                <a:cs typeface="Arial"/>
                <a:sym typeface="Arial"/>
              </a:rPr>
              <a:t>Product features and unboxing highlights</a:t>
            </a:r>
          </a:p>
          <a:p>
            <a:pPr algn="l" marL="478437" indent="-239218" lvl="1">
              <a:lnSpc>
                <a:spcPts val="3544"/>
              </a:lnSpc>
              <a:buFont typeface="Arial"/>
              <a:buChar char="•"/>
            </a:pPr>
            <a:r>
              <a:rPr lang="en-US" sz="2216" spc="-21">
                <a:solidFill>
                  <a:srgbClr val="FFFFFF">
                    <a:alpha val="84706"/>
                  </a:srgbClr>
                </a:solidFill>
                <a:latin typeface="Arial"/>
                <a:ea typeface="Arial"/>
                <a:cs typeface="Arial"/>
                <a:sym typeface="Arial"/>
              </a:rPr>
              <a:t>Creator and celebrity-led content</a:t>
            </a:r>
          </a:p>
          <a:p>
            <a:pPr algn="l" marL="478437" indent="-239218" lvl="1">
              <a:lnSpc>
                <a:spcPts val="3544"/>
              </a:lnSpc>
              <a:buFont typeface="Arial"/>
              <a:buChar char="•"/>
            </a:pPr>
            <a:r>
              <a:rPr lang="en-US" sz="2216" spc="-21">
                <a:solidFill>
                  <a:srgbClr val="FFFFFF">
                    <a:alpha val="84706"/>
                  </a:srgbClr>
                </a:solidFill>
                <a:latin typeface="Arial"/>
                <a:ea typeface="Arial"/>
                <a:cs typeface="Arial"/>
                <a:sym typeface="Arial"/>
              </a:rPr>
              <a:t>Price-led promotions and deal-driven posts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45330" y="5990729"/>
            <a:ext cx="7634584" cy="2153601"/>
          </a:xfrm>
          <a:custGeom>
            <a:avLst/>
            <a:gdLst/>
            <a:ahLst/>
            <a:cxnLst/>
            <a:rect r="r" b="b" t="t" l="l"/>
            <a:pathLst>
              <a:path h="2153601" w="7634584">
                <a:moveTo>
                  <a:pt x="0" y="0"/>
                </a:moveTo>
                <a:lnTo>
                  <a:pt x="7634584" y="0"/>
                </a:lnTo>
                <a:lnTo>
                  <a:pt x="763458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45330" y="5990729"/>
            <a:ext cx="448450" cy="2153601"/>
          </a:xfrm>
          <a:custGeom>
            <a:avLst/>
            <a:gdLst/>
            <a:ahLst/>
            <a:cxnLst/>
            <a:rect r="r" b="b" t="t" l="l"/>
            <a:pathLst>
              <a:path h="2153601" w="448450">
                <a:moveTo>
                  <a:pt x="0" y="0"/>
                </a:moveTo>
                <a:lnTo>
                  <a:pt x="448450" y="0"/>
                </a:lnTo>
                <a:lnTo>
                  <a:pt x="44845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11437" y="6281856"/>
            <a:ext cx="3151185" cy="373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b="true" sz="2016" spc="-19">
                <a:solidFill>
                  <a:srgbClr val="D62626">
                    <a:alpha val="84706"/>
                  </a:srgbClr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SEARCH LANDSCAPE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21294" y="6729141"/>
            <a:ext cx="6698722" cy="1325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9298" indent="-239649" lvl="1">
              <a:lnSpc>
                <a:spcPts val="3551"/>
              </a:lnSpc>
              <a:buFont typeface="Arial"/>
              <a:buChar char="•"/>
            </a:pPr>
            <a:r>
              <a:rPr lang="en-US" sz="2220" spc="-21">
                <a:solidFill>
                  <a:srgbClr val="FFFFFF">
                    <a:alpha val="84706"/>
                  </a:srgbClr>
                </a:solidFill>
                <a:latin typeface="Arial"/>
                <a:ea typeface="Arial"/>
                <a:cs typeface="Arial"/>
                <a:sym typeface="Arial"/>
              </a:rPr>
              <a:t>Official boAt D2C store and brand pages</a:t>
            </a:r>
          </a:p>
          <a:p>
            <a:pPr algn="l" marL="479298" indent="-239649" lvl="1">
              <a:lnSpc>
                <a:spcPts val="3551"/>
              </a:lnSpc>
              <a:buFont typeface="Arial"/>
              <a:buChar char="•"/>
            </a:pPr>
            <a:r>
              <a:rPr lang="en-US" sz="2220" spc="-21">
                <a:solidFill>
                  <a:srgbClr val="FFFFFF">
                    <a:alpha val="84706"/>
                  </a:srgbClr>
                </a:solidFill>
                <a:latin typeface="Arial"/>
                <a:ea typeface="Arial"/>
                <a:cs typeface="Arial"/>
                <a:sym typeface="Arial"/>
              </a:rPr>
              <a:t>Marketplace listings and offers</a:t>
            </a:r>
          </a:p>
          <a:p>
            <a:pPr algn="l" marL="479298" indent="-239649" lvl="1">
              <a:lnSpc>
                <a:spcPts val="3551"/>
              </a:lnSpc>
              <a:buFont typeface="Arial"/>
              <a:buChar char="•"/>
            </a:pPr>
            <a:r>
              <a:rPr lang="en-US" sz="2220" spc="-21">
                <a:solidFill>
                  <a:srgbClr val="FFFFFF">
                    <a:alpha val="84706"/>
                  </a:srgbClr>
                </a:solidFill>
                <a:latin typeface="Arial"/>
                <a:ea typeface="Arial"/>
                <a:cs typeface="Arial"/>
                <a:sym typeface="Arial"/>
              </a:rPr>
              <a:t>Category and price band search modules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385433" y="8352038"/>
            <a:ext cx="7634584" cy="1934962"/>
          </a:xfrm>
          <a:custGeom>
            <a:avLst/>
            <a:gdLst/>
            <a:ahLst/>
            <a:cxnLst/>
            <a:rect r="r" b="b" t="t" l="l"/>
            <a:pathLst>
              <a:path h="1934962" w="7634584">
                <a:moveTo>
                  <a:pt x="0" y="0"/>
                </a:moveTo>
                <a:lnTo>
                  <a:pt x="7634583" y="0"/>
                </a:lnTo>
                <a:lnTo>
                  <a:pt x="7634583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6012" t="0" r="-6012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20808" y="8468180"/>
            <a:ext cx="1516309" cy="353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4"/>
              </a:lnSpc>
            </a:pPr>
            <a:r>
              <a:rPr lang="en-US" b="true" sz="1916" spc="-18">
                <a:solidFill>
                  <a:srgbClr val="D62626">
                    <a:alpha val="84706"/>
                  </a:srgbClr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EXAMPLE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8736316"/>
            <a:ext cx="6712949" cy="1553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4893" indent="-222446" lvl="1">
              <a:lnSpc>
                <a:spcPts val="3294"/>
              </a:lnSpc>
              <a:buFont typeface="Arial"/>
              <a:buChar char="•"/>
            </a:pPr>
            <a:r>
              <a:rPr lang="en-US" sz="2060" spc="-18">
                <a:solidFill>
                  <a:srgbClr val="FFFFFF">
                    <a:alpha val="84706"/>
                  </a:srgbClr>
                </a:solidFill>
                <a:latin typeface="Arial"/>
                <a:ea typeface="Arial"/>
                <a:cs typeface="Arial"/>
                <a:sym typeface="Arial"/>
              </a:rPr>
              <a:t>Query: “boAt Airdopes 131”</a:t>
            </a:r>
          </a:p>
          <a:p>
            <a:pPr algn="l" marL="444893" indent="-222446" lvl="1">
              <a:lnSpc>
                <a:spcPts val="3294"/>
              </a:lnSpc>
              <a:buFont typeface="Arial"/>
              <a:buChar char="•"/>
            </a:pPr>
            <a:r>
              <a:rPr lang="en-US" sz="2060" spc="-18">
                <a:solidFill>
                  <a:srgbClr val="FFFFFF">
                    <a:alpha val="84706"/>
                  </a:srgbClr>
                </a:solidFill>
                <a:latin typeface="Arial"/>
                <a:ea typeface="Arial"/>
                <a:cs typeface="Arial"/>
                <a:sym typeface="Arial"/>
              </a:rPr>
              <a:t>Observation: Official-store and marketplace listings appeared together in the reviewed search snapshot.</a:t>
            </a:r>
          </a:p>
          <a:p>
            <a:pPr algn="l">
              <a:lnSpc>
                <a:spcPts val="2607"/>
              </a:lnSpc>
            </a:pP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8268976" y="634055"/>
            <a:ext cx="10019024" cy="7728915"/>
          </a:xfrm>
          <a:custGeom>
            <a:avLst/>
            <a:gdLst/>
            <a:ahLst/>
            <a:cxnLst/>
            <a:rect r="r" b="b" t="t" l="l"/>
            <a:pathLst>
              <a:path h="7728915" w="10019024">
                <a:moveTo>
                  <a:pt x="0" y="0"/>
                </a:moveTo>
                <a:lnTo>
                  <a:pt x="10019024" y="0"/>
                </a:lnTo>
                <a:lnTo>
                  <a:pt x="10019024" y="7728915"/>
                </a:lnTo>
                <a:lnTo>
                  <a:pt x="0" y="772891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487732" y="6854356"/>
            <a:ext cx="4582938" cy="3224936"/>
          </a:xfrm>
          <a:custGeom>
            <a:avLst/>
            <a:gdLst/>
            <a:ahLst/>
            <a:cxnLst/>
            <a:rect r="r" b="b" t="t" l="l"/>
            <a:pathLst>
              <a:path h="3224936" w="4582938">
                <a:moveTo>
                  <a:pt x="0" y="0"/>
                </a:moveTo>
                <a:lnTo>
                  <a:pt x="4582938" y="0"/>
                </a:lnTo>
                <a:lnTo>
                  <a:pt x="4582938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4361330" y="6635716"/>
            <a:ext cx="3500096" cy="3224936"/>
          </a:xfrm>
          <a:custGeom>
            <a:avLst/>
            <a:gdLst/>
            <a:ahLst/>
            <a:cxnLst/>
            <a:rect r="r" b="b" t="t" l="l"/>
            <a:pathLst>
              <a:path h="3224936" w="3500096">
                <a:moveTo>
                  <a:pt x="0" y="0"/>
                </a:moveTo>
                <a:lnTo>
                  <a:pt x="3500096" y="0"/>
                </a:lnTo>
                <a:lnTo>
                  <a:pt x="3500096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9585158" cy="10287000"/>
          </a:xfrm>
          <a:custGeom>
            <a:avLst/>
            <a:gdLst/>
            <a:ahLst/>
            <a:cxnLst/>
            <a:rect r="r" b="b" t="t" l="l"/>
            <a:pathLst>
              <a:path h="10287000" w="9585158">
                <a:moveTo>
                  <a:pt x="0" y="0"/>
                </a:moveTo>
                <a:lnTo>
                  <a:pt x="9585158" y="0"/>
                </a:lnTo>
                <a:lnTo>
                  <a:pt x="958515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57895" y="0"/>
            <a:ext cx="8930105" cy="10287000"/>
          </a:xfrm>
          <a:custGeom>
            <a:avLst/>
            <a:gdLst/>
            <a:ahLst/>
            <a:cxnLst/>
            <a:rect r="r" b="b" t="t" l="l"/>
            <a:pathLst>
              <a:path h="10287000" w="8930105">
                <a:moveTo>
                  <a:pt x="0" y="0"/>
                </a:moveTo>
                <a:lnTo>
                  <a:pt x="8930105" y="0"/>
                </a:lnTo>
                <a:lnTo>
                  <a:pt x="893010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2999" y="514467"/>
            <a:ext cx="8175381" cy="112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63"/>
              </a:lnSpc>
            </a:pPr>
            <a:r>
              <a:rPr lang="en-US" sz="661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Research Framework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76687" y="1582704"/>
            <a:ext cx="8161694" cy="823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802" b="true">
                <a:solidFill>
                  <a:srgbClr val="DB3939"/>
                </a:solidFill>
                <a:latin typeface="Roboto Bold"/>
                <a:ea typeface="Roboto Bold"/>
                <a:cs typeface="Roboto Bold"/>
                <a:sym typeface="Roboto Bold"/>
              </a:rPr>
              <a:t>How I Audited the Brand?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1454" y="2563176"/>
            <a:ext cx="17505091" cy="856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1) </a:t>
            </a:r>
            <a:r>
              <a:rPr lang="en-US" sz="2700" u="sng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Brand-Owned Sources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Reviewed the Airdopes 131 product page for advertised features, specifications and offer information.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2) </a:t>
            </a:r>
            <a:r>
              <a:rPr lang="en-US" sz="2700" u="sng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Social &amp; Search Touchpoints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Examined selected Instagram content and Google results to identify visible content themes and product-discovery touchpoints.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3) </a:t>
            </a:r>
            <a:r>
              <a:rPr lang="en-US" sz="2700" u="sng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Competitor Benchmarking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Compared published claims for boAt Airdopes 131, Noise Buds N1 and Boult Z40 using official product pages.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4) </a:t>
            </a:r>
            <a:r>
              <a:rPr lang="en-US" sz="2700" u="sng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Evidence-to-Action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Separated direct observations from strategic interpretations and recommendations requiring further validation.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3289426" cy="7936623"/>
          </a:xfrm>
          <a:custGeom>
            <a:avLst/>
            <a:gdLst/>
            <a:ahLst/>
            <a:cxnLst/>
            <a:rect r="r" b="b" t="t" l="l"/>
            <a:pathLst>
              <a:path h="7936623" w="13289426">
                <a:moveTo>
                  <a:pt x="0" y="0"/>
                </a:moveTo>
                <a:lnTo>
                  <a:pt x="13289426" y="0"/>
                </a:lnTo>
                <a:lnTo>
                  <a:pt x="13289426" y="7936623"/>
                </a:lnTo>
                <a:lnTo>
                  <a:pt x="0" y="79366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7707051"/>
            <a:ext cx="11539378" cy="2579949"/>
          </a:xfrm>
          <a:custGeom>
            <a:avLst/>
            <a:gdLst/>
            <a:ahLst/>
            <a:cxnLst/>
            <a:rect r="r" b="b" t="t" l="l"/>
            <a:pathLst>
              <a:path h="2579949" w="11539378">
                <a:moveTo>
                  <a:pt x="0" y="0"/>
                </a:moveTo>
                <a:lnTo>
                  <a:pt x="11539378" y="0"/>
                </a:lnTo>
                <a:lnTo>
                  <a:pt x="11539378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747196" y="852695"/>
            <a:ext cx="6114230" cy="7936623"/>
          </a:xfrm>
          <a:custGeom>
            <a:avLst/>
            <a:gdLst/>
            <a:ahLst/>
            <a:cxnLst/>
            <a:rect r="r" b="b" t="t" l="l"/>
            <a:pathLst>
              <a:path h="7936623" w="6114230">
                <a:moveTo>
                  <a:pt x="0" y="0"/>
                </a:moveTo>
                <a:lnTo>
                  <a:pt x="6114230" y="0"/>
                </a:lnTo>
                <a:lnTo>
                  <a:pt x="6114230" y="7936623"/>
                </a:lnTo>
                <a:lnTo>
                  <a:pt x="0" y="79366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83798" y="577010"/>
            <a:ext cx="9951061" cy="1033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11"/>
              </a:lnSpc>
            </a:pPr>
            <a:r>
              <a:rPr lang="en-US" sz="6008" b="true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What the Audit Revealed?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51791" y="1497512"/>
            <a:ext cx="1793599" cy="925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8"/>
              </a:lnSpc>
            </a:pPr>
            <a:r>
              <a:rPr lang="en-US" sz="4862" b="true">
                <a:solidFill>
                  <a:srgbClr val="D83138"/>
                </a:solidFill>
                <a:latin typeface="Roboto Bold"/>
                <a:ea typeface="Roboto Bold"/>
                <a:cs typeface="Roboto Bold"/>
                <a:sym typeface="Roboto Bold"/>
              </a:rPr>
              <a:t>Signal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603196" y="1705390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457996" y="1497512"/>
            <a:ext cx="2458218" cy="925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8"/>
              </a:lnSpc>
            </a:pPr>
            <a:r>
              <a:rPr lang="en-US" sz="4862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Meaning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45330" y="2995365"/>
            <a:ext cx="229694" cy="1300906"/>
          </a:xfrm>
          <a:custGeom>
            <a:avLst/>
            <a:gdLst/>
            <a:ahLst/>
            <a:cxnLst/>
            <a:rect r="r" b="b" t="t" l="l"/>
            <a:pathLst>
              <a:path h="1300906" w="229694">
                <a:moveTo>
                  <a:pt x="0" y="0"/>
                </a:moveTo>
                <a:lnTo>
                  <a:pt x="229694" y="0"/>
                </a:lnTo>
                <a:lnTo>
                  <a:pt x="22969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85898" y="3128741"/>
            <a:ext cx="3208588" cy="492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 b="true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Product-page trust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7984" y="3662903"/>
            <a:ext cx="5036344" cy="436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254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Verify Bluetooth version consistency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311110" y="3421712"/>
            <a:ext cx="1093780" cy="437279"/>
          </a:xfrm>
          <a:custGeom>
            <a:avLst/>
            <a:gdLst/>
            <a:ahLst/>
            <a:cxnLst/>
            <a:rect r="r" b="b" t="t" l="l"/>
            <a:pathLst>
              <a:path h="437279" w="1093780">
                <a:moveTo>
                  <a:pt x="0" y="0"/>
                </a:moveTo>
                <a:lnTo>
                  <a:pt x="1093780" y="0"/>
                </a:lnTo>
                <a:lnTo>
                  <a:pt x="109378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822406" y="3153624"/>
            <a:ext cx="3562945" cy="88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254" b="true">
                <a:solidFill>
                  <a:srgbClr val="D83138"/>
                </a:solidFill>
                <a:latin typeface="Roboto Bold"/>
                <a:ea typeface="Roboto Bold"/>
                <a:cs typeface="Roboto Bold"/>
                <a:sym typeface="Roboto Bold"/>
              </a:rPr>
              <a:t>Impact:</a:t>
            </a:r>
            <a:r>
              <a:rPr lang="en-US" sz="2254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 stronger credibility and fewer support queries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45330" y="4493047"/>
            <a:ext cx="229694" cy="1300906"/>
          </a:xfrm>
          <a:custGeom>
            <a:avLst/>
            <a:gdLst/>
            <a:ahLst/>
            <a:cxnLst/>
            <a:rect r="r" b="b" t="t" l="l"/>
            <a:pathLst>
              <a:path h="1300906" w="229694">
                <a:moveTo>
                  <a:pt x="0" y="0"/>
                </a:moveTo>
                <a:lnTo>
                  <a:pt x="229694" y="0"/>
                </a:lnTo>
                <a:lnTo>
                  <a:pt x="22969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93099" y="4664947"/>
            <a:ext cx="2488587" cy="492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 b="true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Choice friction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6311110" y="4919394"/>
            <a:ext cx="1093780" cy="448211"/>
          </a:xfrm>
          <a:custGeom>
            <a:avLst/>
            <a:gdLst/>
            <a:ahLst/>
            <a:cxnLst/>
            <a:rect r="r" b="b" t="t" l="l"/>
            <a:pathLst>
              <a:path h="448211" w="1093780">
                <a:moveTo>
                  <a:pt x="0" y="0"/>
                </a:moveTo>
                <a:lnTo>
                  <a:pt x="1093780" y="0"/>
                </a:lnTo>
                <a:lnTo>
                  <a:pt x="1093780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822406" y="4704890"/>
            <a:ext cx="3562945" cy="88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254" b="true">
                <a:solidFill>
                  <a:srgbClr val="D83138"/>
                </a:solidFill>
                <a:latin typeface="Roboto Bold"/>
                <a:ea typeface="Roboto Bold"/>
                <a:cs typeface="Roboto Bold"/>
                <a:sym typeface="Roboto Bold"/>
              </a:rPr>
              <a:t>Impact:</a:t>
            </a:r>
            <a:r>
              <a:rPr lang="en-US" sz="2254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 easier decisions</a:t>
            </a:r>
          </a:p>
          <a:p>
            <a:pPr algn="l">
              <a:lnSpc>
                <a:spcPts val="3607"/>
              </a:lnSpc>
            </a:pPr>
            <a:r>
              <a:rPr lang="en-US" sz="2254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and higher conversion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645330" y="5990729"/>
            <a:ext cx="229694" cy="1300906"/>
          </a:xfrm>
          <a:custGeom>
            <a:avLst/>
            <a:gdLst/>
            <a:ahLst/>
            <a:cxnLst/>
            <a:rect r="r" b="b" t="t" l="l"/>
            <a:pathLst>
              <a:path h="1300906" w="229694">
                <a:moveTo>
                  <a:pt x="0" y="0"/>
                </a:moveTo>
                <a:lnTo>
                  <a:pt x="229694" y="0"/>
                </a:lnTo>
                <a:lnTo>
                  <a:pt x="22969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69652" y="6216214"/>
            <a:ext cx="4833246" cy="492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 b="true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Student-focused positioning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17984" y="6765437"/>
            <a:ext cx="5036344" cy="436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254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Test as a hypothesis, not a proven gap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6311110" y="6428009"/>
            <a:ext cx="1093780" cy="437279"/>
          </a:xfrm>
          <a:custGeom>
            <a:avLst/>
            <a:gdLst/>
            <a:ahLst/>
            <a:cxnLst/>
            <a:rect r="r" b="b" t="t" l="l"/>
            <a:pathLst>
              <a:path h="437279" w="1093780">
                <a:moveTo>
                  <a:pt x="0" y="0"/>
                </a:moveTo>
                <a:lnTo>
                  <a:pt x="1093780" y="0"/>
                </a:lnTo>
                <a:lnTo>
                  <a:pt x="109378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7822406" y="6241096"/>
            <a:ext cx="4045148" cy="88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254" b="true">
                <a:solidFill>
                  <a:srgbClr val="D83138"/>
                </a:solidFill>
                <a:latin typeface="Roboto Bold"/>
                <a:ea typeface="Roboto Bold"/>
                <a:cs typeface="Roboto Bold"/>
                <a:sym typeface="Roboto Bold"/>
              </a:rPr>
              <a:t>Impact:</a:t>
            </a:r>
            <a:r>
              <a:rPr lang="en-US" sz="2254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 evidence-led messaging that resonates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83329" y="8220748"/>
            <a:ext cx="9020550" cy="755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5"/>
              </a:lnSpc>
            </a:pPr>
            <a:r>
              <a:rPr lang="en-US" sz="4389" b="true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Clearer proof, </a:t>
            </a:r>
            <a:r>
              <a:rPr lang="en-US" sz="4389" b="true">
                <a:solidFill>
                  <a:srgbClr val="D83138"/>
                </a:solidFill>
                <a:latin typeface="Roboto Bold"/>
                <a:ea typeface="Roboto Bold"/>
                <a:cs typeface="Roboto Bold"/>
                <a:sym typeface="Roboto Bold"/>
              </a:rPr>
              <a:t>Easier comparison &amp;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94302" y="8898486"/>
            <a:ext cx="7542409" cy="751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2"/>
              </a:lnSpc>
            </a:pPr>
            <a:r>
              <a:rPr lang="en-US" sz="4394" b="true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Measurable experimentation.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17984" y="5199109"/>
            <a:ext cx="5036344" cy="436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254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Clarify D2C value proposition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1886" y="643229"/>
            <a:ext cx="5499658" cy="951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4"/>
              </a:lnSpc>
            </a:pPr>
            <a:r>
              <a:rPr lang="en-US" sz="7264" spc="-145" b="true">
                <a:solidFill>
                  <a:srgbClr val="F8F8F8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Competitive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832209" y="643229"/>
            <a:ext cx="5495157" cy="951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4"/>
              </a:lnSpc>
            </a:pPr>
            <a:r>
              <a:rPr lang="en-US" sz="7264" spc="-145" b="true">
                <a:solidFill>
                  <a:srgbClr val="D42B2B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Positioning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32295" y="1983387"/>
            <a:ext cx="3559555" cy="36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2896" spc="-28" b="true">
                <a:solidFill>
                  <a:srgbClr val="F8F8F8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Official Claims Only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393812" y="2502945"/>
            <a:ext cx="5676718" cy="5586245"/>
          </a:xfrm>
          <a:custGeom>
            <a:avLst/>
            <a:gdLst/>
            <a:ahLst/>
            <a:cxnLst/>
            <a:rect r="r" b="b" t="t" l="l"/>
            <a:pathLst>
              <a:path h="5586245" w="5676718">
                <a:moveTo>
                  <a:pt x="0" y="0"/>
                </a:moveTo>
                <a:lnTo>
                  <a:pt x="5676718" y="0"/>
                </a:lnTo>
                <a:lnTo>
                  <a:pt x="5676718" y="5586246"/>
                </a:lnTo>
                <a:lnTo>
                  <a:pt x="0" y="55862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17824" y="3010198"/>
            <a:ext cx="3628693" cy="406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b="true" sz="3168" spc="-30">
                <a:solidFill>
                  <a:srgbClr val="D42B2B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boAt Airdopes 131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54929" y="3614802"/>
            <a:ext cx="1704043" cy="9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45"/>
              </a:lnSpc>
            </a:pPr>
            <a:r>
              <a:rPr lang="en-US" b="true" sz="6845" spc="-137">
                <a:solidFill>
                  <a:srgbClr val="D42B2B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60h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57359" y="5360697"/>
            <a:ext cx="3489158" cy="229572"/>
          </a:xfrm>
          <a:custGeom>
            <a:avLst/>
            <a:gdLst/>
            <a:ahLst/>
            <a:cxnLst/>
            <a:rect r="r" b="b" t="t" l="l"/>
            <a:pathLst>
              <a:path h="229572" w="3489158">
                <a:moveTo>
                  <a:pt x="0" y="0"/>
                </a:moveTo>
                <a:lnTo>
                  <a:pt x="3489158" y="0"/>
                </a:lnTo>
                <a:lnTo>
                  <a:pt x="348915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013630" y="5930950"/>
            <a:ext cx="2437082" cy="799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47"/>
              </a:lnSpc>
            </a:pPr>
            <a:r>
              <a:rPr lang="en-US" b="true" sz="6147" spc="-123">
                <a:solidFill>
                  <a:srgbClr val="D42B2B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13 mm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201732" y="2502945"/>
            <a:ext cx="5447024" cy="5586245"/>
          </a:xfrm>
          <a:custGeom>
            <a:avLst/>
            <a:gdLst/>
            <a:ahLst/>
            <a:cxnLst/>
            <a:rect r="r" b="b" t="t" l="l"/>
            <a:pathLst>
              <a:path h="5586245" w="5447024">
                <a:moveTo>
                  <a:pt x="0" y="0"/>
                </a:moveTo>
                <a:lnTo>
                  <a:pt x="5447024" y="0"/>
                </a:lnTo>
                <a:lnTo>
                  <a:pt x="5447024" y="5586246"/>
                </a:lnTo>
                <a:lnTo>
                  <a:pt x="0" y="55862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393683" y="3084518"/>
            <a:ext cx="2844366" cy="406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b="true" sz="3168" spc="-30">
                <a:solidFill>
                  <a:srgbClr val="D42B2B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Noise Buds N1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714252" y="3719308"/>
            <a:ext cx="1731071" cy="9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45"/>
              </a:lnSpc>
            </a:pPr>
            <a:r>
              <a:rPr lang="en-US" b="true" sz="6845" spc="-137">
                <a:solidFill>
                  <a:srgbClr val="D42B2B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40h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98379" y="4738254"/>
            <a:ext cx="3402211" cy="298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7"/>
              </a:lnSpc>
            </a:pPr>
            <a:r>
              <a:rPr lang="en-US" sz="2387" spc="-23">
                <a:solidFill>
                  <a:srgbClr val="F8F8F8"/>
                </a:solidFill>
                <a:latin typeface="Helvetica Now"/>
                <a:ea typeface="Helvetica Now"/>
                <a:cs typeface="Helvetica Now"/>
                <a:sym typeface="Helvetica Now"/>
              </a:rPr>
              <a:t>up to playback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7028006" y="5360697"/>
            <a:ext cx="3500096" cy="229572"/>
          </a:xfrm>
          <a:custGeom>
            <a:avLst/>
            <a:gdLst/>
            <a:ahLst/>
            <a:cxnLst/>
            <a:rect r="r" b="b" t="t" l="l"/>
            <a:pathLst>
              <a:path h="229572" w="3500096">
                <a:moveTo>
                  <a:pt x="0" y="0"/>
                </a:moveTo>
                <a:lnTo>
                  <a:pt x="3500096" y="0"/>
                </a:lnTo>
                <a:lnTo>
                  <a:pt x="350009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897037" y="5901030"/>
            <a:ext cx="2056414" cy="732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54"/>
              </a:lnSpc>
            </a:pPr>
            <a:r>
              <a:rPr lang="en-US" b="true" sz="5554" spc="-111">
                <a:solidFill>
                  <a:srgbClr val="D42B2B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11 mm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84873" y="6891472"/>
            <a:ext cx="3080742" cy="76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6"/>
              </a:lnSpc>
            </a:pPr>
            <a:r>
              <a:rPr lang="en-US" sz="2254" spc="-22">
                <a:solidFill>
                  <a:srgbClr val="F8F8F8"/>
                </a:solidFill>
                <a:latin typeface="Helvetica Now"/>
                <a:ea typeface="Helvetica Now"/>
                <a:cs typeface="Helvetica Now"/>
                <a:sym typeface="Helvetica Now"/>
              </a:rPr>
              <a:t>quad-mic ENC</a:t>
            </a:r>
          </a:p>
          <a:p>
            <a:pPr algn="ctr">
              <a:lnSpc>
                <a:spcPts val="3156"/>
              </a:lnSpc>
            </a:pPr>
            <a:r>
              <a:rPr lang="en-US" sz="2254" spc="-22">
                <a:solidFill>
                  <a:srgbClr val="F8F8F8"/>
                </a:solidFill>
                <a:latin typeface="Helvetica Now"/>
                <a:ea typeface="Helvetica Now"/>
                <a:cs typeface="Helvetica Now"/>
                <a:sym typeface="Helvetica Now"/>
              </a:rPr>
              <a:t>(Noise claim)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1782106" y="2567574"/>
            <a:ext cx="5457962" cy="5586245"/>
          </a:xfrm>
          <a:custGeom>
            <a:avLst/>
            <a:gdLst/>
            <a:ahLst/>
            <a:cxnLst/>
            <a:rect r="r" b="b" t="t" l="l"/>
            <a:pathLst>
              <a:path h="5586245" w="5457962">
                <a:moveTo>
                  <a:pt x="0" y="0"/>
                </a:moveTo>
                <a:lnTo>
                  <a:pt x="5457962" y="0"/>
                </a:lnTo>
                <a:lnTo>
                  <a:pt x="5457962" y="5586246"/>
                </a:lnTo>
                <a:lnTo>
                  <a:pt x="0" y="55862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3194009" y="3010198"/>
            <a:ext cx="1983118" cy="406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b="true" sz="3168" spc="-30">
                <a:solidFill>
                  <a:srgbClr val="D42B2B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Boult Z40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462714" y="3614802"/>
            <a:ext cx="1704043" cy="9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45"/>
              </a:lnSpc>
            </a:pPr>
            <a:r>
              <a:rPr lang="en-US" b="true" sz="6845" spc="-137">
                <a:solidFill>
                  <a:srgbClr val="D42B2B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60h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774364" y="4673687"/>
            <a:ext cx="3080742" cy="298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7"/>
              </a:lnSpc>
            </a:pPr>
            <a:r>
              <a:rPr lang="en-US" sz="2387" spc="-23">
                <a:solidFill>
                  <a:srgbClr val="F8F8F8"/>
                </a:solidFill>
                <a:latin typeface="Helvetica Now"/>
                <a:ea typeface="Helvetica Now"/>
                <a:cs typeface="Helvetica Now"/>
                <a:sym typeface="Helvetica Now"/>
              </a:rPr>
              <a:t>up to playback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2622220" y="5286888"/>
            <a:ext cx="3489158" cy="229572"/>
          </a:xfrm>
          <a:custGeom>
            <a:avLst/>
            <a:gdLst/>
            <a:ahLst/>
            <a:cxnLst/>
            <a:rect r="r" b="b" t="t" l="l"/>
            <a:pathLst>
              <a:path h="229572" w="3489158">
                <a:moveTo>
                  <a:pt x="0" y="0"/>
                </a:moveTo>
                <a:lnTo>
                  <a:pt x="3489158" y="0"/>
                </a:lnTo>
                <a:lnTo>
                  <a:pt x="348915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3390360" y="5727921"/>
            <a:ext cx="2241454" cy="732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54"/>
              </a:lnSpc>
            </a:pPr>
            <a:r>
              <a:rPr lang="en-US" b="true" sz="5554" spc="-111">
                <a:solidFill>
                  <a:srgbClr val="D42B2B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10 mm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801281" y="6507930"/>
            <a:ext cx="3080742" cy="298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7"/>
              </a:lnSpc>
            </a:pPr>
            <a:r>
              <a:rPr lang="en-US" sz="2387" spc="-23">
                <a:solidFill>
                  <a:srgbClr val="F8F8F8"/>
                </a:solidFill>
                <a:latin typeface="Helvetica Now"/>
                <a:ea typeface="Helvetica Now"/>
                <a:cs typeface="Helvetica Now"/>
                <a:sym typeface="Helvetica Now"/>
              </a:rPr>
              <a:t>BoomX drivers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826428" y="6891472"/>
            <a:ext cx="3080742" cy="76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6"/>
              </a:lnSpc>
            </a:pPr>
            <a:r>
              <a:rPr lang="en-US" sz="2254" spc="-22">
                <a:solidFill>
                  <a:srgbClr val="F8F8F8"/>
                </a:solidFill>
                <a:latin typeface="Helvetica Now"/>
                <a:ea typeface="Helvetica Now"/>
                <a:cs typeface="Helvetica Now"/>
                <a:sym typeface="Helvetica Now"/>
              </a:rPr>
              <a:t>Zen ENC / IPX5</a:t>
            </a:r>
          </a:p>
          <a:p>
            <a:pPr algn="ctr">
              <a:lnSpc>
                <a:spcPts val="3156"/>
              </a:lnSpc>
            </a:pPr>
            <a:r>
              <a:rPr lang="en-US" sz="2254" spc="-22">
                <a:solidFill>
                  <a:srgbClr val="F8F8F8"/>
                </a:solidFill>
                <a:latin typeface="Helvetica Now"/>
                <a:ea typeface="Helvetica Now"/>
                <a:cs typeface="Helvetica Now"/>
                <a:sym typeface="Helvetica Now"/>
              </a:rPr>
              <a:t>(Boult claim)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134540" y="8430045"/>
            <a:ext cx="13772630" cy="1639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7"/>
              </a:lnSpc>
            </a:pPr>
            <a:r>
              <a:rPr lang="en-US" b="true" sz="2987" spc="-26">
                <a:solidFill>
                  <a:srgbClr val="D6303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Strategic takeaway</a:t>
            </a:r>
          </a:p>
          <a:p>
            <a:pPr algn="ctr">
              <a:lnSpc>
                <a:spcPts val="2387"/>
              </a:lnSpc>
            </a:pPr>
          </a:p>
          <a:p>
            <a:pPr algn="l">
              <a:lnSpc>
                <a:spcPts val="2687"/>
              </a:lnSpc>
            </a:pPr>
            <a:r>
              <a:rPr lang="en-US" sz="2687" spc="-24">
                <a:solidFill>
                  <a:srgbClr val="F8F8F8"/>
                </a:solidFill>
                <a:latin typeface="Helvetica Now"/>
                <a:ea typeface="Helvetica Now"/>
                <a:cs typeface="Helvetica Now"/>
                <a:sym typeface="Helvetica Now"/>
              </a:rPr>
              <a:t>Playback claims overlap with Boult. Noise highlights call-related features. boAt can strengthen its value story by making its benefits and offer easier to understand.</a:t>
            </a:r>
          </a:p>
          <a:p>
            <a:pPr algn="ctr">
              <a:lnSpc>
                <a:spcPts val="2387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456783" y="4738254"/>
            <a:ext cx="3589734" cy="298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7"/>
              </a:lnSpc>
            </a:pPr>
            <a:r>
              <a:rPr lang="en-US" sz="2387" spc="-23">
                <a:solidFill>
                  <a:srgbClr val="F8F8F8"/>
                </a:solidFill>
                <a:latin typeface="Helvetica Now"/>
                <a:ea typeface="Helvetica Now"/>
                <a:cs typeface="Helvetica Now"/>
                <a:sym typeface="Helvetica Now"/>
              </a:rPr>
              <a:t>up to playback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56783" y="6735140"/>
            <a:ext cx="3589734" cy="298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7"/>
              </a:lnSpc>
            </a:pPr>
            <a:r>
              <a:rPr lang="en-US" sz="2387" spc="-23">
                <a:solidFill>
                  <a:srgbClr val="F8F8F8"/>
                </a:solidFill>
                <a:latin typeface="Helvetica Now"/>
                <a:ea typeface="Helvetica Now"/>
                <a:cs typeface="Helvetica Now"/>
                <a:sym typeface="Helvetica Now"/>
              </a:rPr>
              <a:t>drivers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076948" y="6605261"/>
            <a:ext cx="3402211" cy="298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7"/>
              </a:lnSpc>
            </a:pPr>
            <a:r>
              <a:rPr lang="en-US" sz="2387" spc="-23">
                <a:solidFill>
                  <a:srgbClr val="F8F8F8"/>
                </a:solidFill>
                <a:latin typeface="Helvetica Now"/>
                <a:ea typeface="Helvetica Now"/>
                <a:cs typeface="Helvetica Now"/>
                <a:sym typeface="Helvetica Now"/>
              </a:rPr>
              <a:t>drivers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95741" y="788344"/>
            <a:ext cx="7183050" cy="1006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2"/>
              </a:lnSpc>
            </a:pPr>
            <a:r>
              <a:rPr lang="en-US" sz="7682" spc="-153" b="true">
                <a:solidFill>
                  <a:srgbClr val="F6F6F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Three Signals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34039" y="1797420"/>
            <a:ext cx="8926618" cy="1006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2"/>
              </a:lnSpc>
            </a:pPr>
            <a:r>
              <a:rPr lang="en-US" sz="7682" spc="-153" b="true">
                <a:solidFill>
                  <a:srgbClr val="D13131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Worth Investing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2776725"/>
            <a:ext cx="1323474" cy="229572"/>
          </a:xfrm>
          <a:custGeom>
            <a:avLst/>
            <a:gdLst/>
            <a:ahLst/>
            <a:cxnLst/>
            <a:rect r="r" b="b" t="t" l="l"/>
            <a:pathLst>
              <a:path h="229572" w="1323474">
                <a:moveTo>
                  <a:pt x="0" y="0"/>
                </a:moveTo>
                <a:lnTo>
                  <a:pt x="1323474" y="0"/>
                </a:lnTo>
                <a:lnTo>
                  <a:pt x="132347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11817" y="3789510"/>
            <a:ext cx="1148758" cy="1094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80"/>
              </a:lnSpc>
            </a:pPr>
            <a:r>
              <a:rPr lang="en-US" sz="8380" spc="-167" b="true">
                <a:solidFill>
                  <a:srgbClr val="D13131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01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384440" y="3421712"/>
            <a:ext cx="229694" cy="1508614"/>
          </a:xfrm>
          <a:custGeom>
            <a:avLst/>
            <a:gdLst/>
            <a:ahLst/>
            <a:cxnLst/>
            <a:rect r="r" b="b" t="t" l="l"/>
            <a:pathLst>
              <a:path h="1508614" w="229694">
                <a:moveTo>
                  <a:pt x="0" y="0"/>
                </a:moveTo>
                <a:lnTo>
                  <a:pt x="229694" y="0"/>
                </a:lnTo>
                <a:lnTo>
                  <a:pt x="22969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37166" y="3554187"/>
            <a:ext cx="6320853" cy="1353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5"/>
              </a:lnSpc>
            </a:pPr>
            <a:r>
              <a:rPr lang="en-US" sz="2575" spc="-23" b="true">
                <a:solidFill>
                  <a:srgbClr val="D83138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Bluetooth specification inconsistency</a:t>
            </a:r>
          </a:p>
          <a:p>
            <a:pPr algn="l">
              <a:lnSpc>
                <a:spcPts val="3605"/>
              </a:lnSpc>
            </a:pPr>
            <a:r>
              <a:rPr lang="en-US" sz="2575" spc="-25" b="true">
                <a:solidFill>
                  <a:srgbClr val="FFFFFF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Verify the conflicting version details before confirmation.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9623" y="5777541"/>
            <a:ext cx="1368155" cy="1094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80"/>
              </a:lnSpc>
            </a:pPr>
            <a:r>
              <a:rPr lang="en-US" sz="8380" spc="-167" b="true">
                <a:solidFill>
                  <a:srgbClr val="D13131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02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384440" y="5356674"/>
            <a:ext cx="229694" cy="1934962"/>
          </a:xfrm>
          <a:custGeom>
            <a:avLst/>
            <a:gdLst/>
            <a:ahLst/>
            <a:cxnLst/>
            <a:rect r="r" b="b" t="t" l="l"/>
            <a:pathLst>
              <a:path h="1934962" w="229694">
                <a:moveTo>
                  <a:pt x="0" y="0"/>
                </a:moveTo>
                <a:lnTo>
                  <a:pt x="229694" y="0"/>
                </a:lnTo>
                <a:lnTo>
                  <a:pt x="229694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935936" y="5436952"/>
            <a:ext cx="6443916" cy="1298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487" spc="-22" b="true">
                <a:solidFill>
                  <a:srgbClr val="D83138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D2C and marketplace visibility</a:t>
            </a:r>
          </a:p>
          <a:p>
            <a:pPr algn="l">
              <a:lnSpc>
                <a:spcPts val="3482"/>
              </a:lnSpc>
            </a:pPr>
            <a:r>
              <a:rPr lang="en-US" sz="2487" spc="-24" b="true">
                <a:solidFill>
                  <a:srgbClr val="FFFFFF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Clarify the D2C value proposition. This observation does not prove lost sales.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9436" y="8021606"/>
            <a:ext cx="1386839" cy="1094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80"/>
              </a:lnSpc>
            </a:pPr>
            <a:r>
              <a:rPr lang="en-US" sz="8380" spc="-167" b="true">
                <a:solidFill>
                  <a:srgbClr val="D13131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03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2384440" y="7707051"/>
            <a:ext cx="229694" cy="1508614"/>
          </a:xfrm>
          <a:custGeom>
            <a:avLst/>
            <a:gdLst/>
            <a:ahLst/>
            <a:cxnLst/>
            <a:rect r="r" b="b" t="t" l="l"/>
            <a:pathLst>
              <a:path h="1508614" w="229694">
                <a:moveTo>
                  <a:pt x="0" y="0"/>
                </a:moveTo>
                <a:lnTo>
                  <a:pt x="229694" y="0"/>
                </a:lnTo>
                <a:lnTo>
                  <a:pt x="22969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933405" y="7756343"/>
            <a:ext cx="6696963" cy="1353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5"/>
              </a:lnSpc>
            </a:pPr>
            <a:r>
              <a:rPr lang="en-US" sz="2575" spc="-23" b="true">
                <a:solidFill>
                  <a:srgbClr val="D83138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Student-focused positioning</a:t>
            </a:r>
          </a:p>
          <a:p>
            <a:pPr algn="l">
              <a:lnSpc>
                <a:spcPts val="3605"/>
              </a:lnSpc>
            </a:pPr>
            <a:r>
              <a:rPr lang="en-US" sz="2575" spc="-25" b="true">
                <a:solidFill>
                  <a:srgbClr val="FFFFFF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Treat it as a hypothesis and validate it through research.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1320622" y="2350377"/>
            <a:ext cx="6540804" cy="4722618"/>
          </a:xfrm>
          <a:custGeom>
            <a:avLst/>
            <a:gdLst/>
            <a:ahLst/>
            <a:cxnLst/>
            <a:rect r="r" b="b" t="t" l="l"/>
            <a:pathLst>
              <a:path h="4722618" w="6540804">
                <a:moveTo>
                  <a:pt x="0" y="0"/>
                </a:moveTo>
                <a:lnTo>
                  <a:pt x="6540804" y="0"/>
                </a:lnTo>
                <a:lnTo>
                  <a:pt x="6540804" y="4722619"/>
                </a:lnTo>
                <a:lnTo>
                  <a:pt x="0" y="47226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008086" y="5990729"/>
            <a:ext cx="3281340" cy="3224936"/>
          </a:xfrm>
          <a:custGeom>
            <a:avLst/>
            <a:gdLst/>
            <a:ahLst/>
            <a:cxnLst/>
            <a:rect r="r" b="b" t="t" l="l"/>
            <a:pathLst>
              <a:path h="3224936" w="3281340">
                <a:moveTo>
                  <a:pt x="0" y="0"/>
                </a:moveTo>
                <a:lnTo>
                  <a:pt x="3281340" y="0"/>
                </a:lnTo>
                <a:lnTo>
                  <a:pt x="3281340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716000" y="6635716"/>
            <a:ext cx="2614134" cy="3224936"/>
          </a:xfrm>
          <a:custGeom>
            <a:avLst/>
            <a:gdLst/>
            <a:ahLst/>
            <a:cxnLst/>
            <a:rect r="r" b="b" t="t" l="l"/>
            <a:pathLst>
              <a:path h="3224936" w="2614134">
                <a:moveTo>
                  <a:pt x="0" y="0"/>
                </a:moveTo>
                <a:lnTo>
                  <a:pt x="2614134" y="0"/>
                </a:lnTo>
                <a:lnTo>
                  <a:pt x="2614134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1528" y="838949"/>
            <a:ext cx="8140924" cy="951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4"/>
              </a:lnSpc>
            </a:pPr>
            <a:r>
              <a:rPr lang="en-US" sz="7264" b="true">
                <a:solidFill>
                  <a:srgbClr val="F4F4F4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Recommendations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37718" y="1778870"/>
            <a:ext cx="10521948" cy="960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5"/>
              </a:lnSpc>
            </a:pPr>
            <a:r>
              <a:rPr lang="en-US" sz="7215" b="true">
                <a:solidFill>
                  <a:srgbClr val="D63632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with Measurement Plans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2776725"/>
            <a:ext cx="1323474" cy="448211"/>
          </a:xfrm>
          <a:custGeom>
            <a:avLst/>
            <a:gdLst/>
            <a:ahLst/>
            <a:cxnLst/>
            <a:rect r="r" b="b" t="t" l="l"/>
            <a:pathLst>
              <a:path h="448211" w="1323474">
                <a:moveTo>
                  <a:pt x="0" y="0"/>
                </a:moveTo>
                <a:lnTo>
                  <a:pt x="1323474" y="0"/>
                </a:lnTo>
                <a:lnTo>
                  <a:pt x="1323474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5330" y="3421712"/>
            <a:ext cx="5457962" cy="5159898"/>
          </a:xfrm>
          <a:custGeom>
            <a:avLst/>
            <a:gdLst/>
            <a:ahLst/>
            <a:cxnLst/>
            <a:rect r="r" b="b" t="t" l="l"/>
            <a:pathLst>
              <a:path h="5159898" w="5457962">
                <a:moveTo>
                  <a:pt x="0" y="0"/>
                </a:moveTo>
                <a:lnTo>
                  <a:pt x="5457962" y="0"/>
                </a:lnTo>
                <a:lnTo>
                  <a:pt x="5457962" y="5159898"/>
                </a:lnTo>
                <a:lnTo>
                  <a:pt x="0" y="51598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45330" y="3421712"/>
            <a:ext cx="2625072" cy="874559"/>
          </a:xfrm>
          <a:custGeom>
            <a:avLst/>
            <a:gdLst/>
            <a:ahLst/>
            <a:cxnLst/>
            <a:rect r="r" b="b" t="t" l="l"/>
            <a:pathLst>
              <a:path h="874559" w="2625072">
                <a:moveTo>
                  <a:pt x="0" y="0"/>
                </a:moveTo>
                <a:lnTo>
                  <a:pt x="2625072" y="0"/>
                </a:lnTo>
                <a:lnTo>
                  <a:pt x="262507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10936" y="4604015"/>
            <a:ext cx="3383721" cy="751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7"/>
              </a:lnSpc>
            </a:pPr>
            <a:r>
              <a:rPr lang="en-US" sz="1986" spc="-39">
                <a:solidFill>
                  <a:srgbClr val="F4F4F4"/>
                </a:solidFill>
                <a:latin typeface="Helvetica Now"/>
                <a:ea typeface="Helvetica Now"/>
                <a:cs typeface="Helvetica Now"/>
                <a:sym typeface="Helvetica Now"/>
              </a:rPr>
              <a:t>Verify product specs across </a:t>
            </a:r>
          </a:p>
          <a:p>
            <a:pPr algn="l">
              <a:lnSpc>
                <a:spcPts val="3177"/>
              </a:lnSpc>
            </a:pPr>
            <a:r>
              <a:rPr lang="en-US" sz="1986" spc="-39">
                <a:solidFill>
                  <a:srgbClr val="F4F4F4"/>
                </a:solidFill>
                <a:latin typeface="Helvetica Now"/>
                <a:ea typeface="Helvetica Now"/>
                <a:cs typeface="Helvetica Now"/>
                <a:sym typeface="Helvetica Now"/>
              </a:rPr>
              <a:t>page, packaging, and listings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1983" y="5763700"/>
            <a:ext cx="4279048" cy="751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7"/>
              </a:lnSpc>
            </a:pPr>
            <a:r>
              <a:rPr lang="en-US" sz="1986" spc="-39">
                <a:solidFill>
                  <a:srgbClr val="F4F4F4"/>
                </a:solidFill>
                <a:latin typeface="Helvetica Now"/>
                <a:ea typeface="Helvetica Now"/>
                <a:cs typeface="Helvetica Now"/>
                <a:sym typeface="Helvetica Now"/>
              </a:rPr>
              <a:t>Publish a dated budget-earbuds buying guide with clear comparisons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8679" y="6908323"/>
            <a:ext cx="3609411" cy="751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7"/>
              </a:lnSpc>
            </a:pPr>
            <a:r>
              <a:rPr lang="en-US" sz="1986" spc="-39">
                <a:solidFill>
                  <a:srgbClr val="F4F4F4"/>
                </a:solidFill>
                <a:latin typeface="Helvetica Now"/>
                <a:ea typeface="Helvetica Now"/>
                <a:cs typeface="Helvetica Now"/>
                <a:sym typeface="Helvetica Now"/>
              </a:rPr>
              <a:t>Test student-value messaging </a:t>
            </a:r>
          </a:p>
          <a:p>
            <a:pPr algn="l">
              <a:lnSpc>
                <a:spcPts val="3177"/>
              </a:lnSpc>
            </a:pPr>
            <a:r>
              <a:rPr lang="en-US" sz="1986" spc="-39">
                <a:solidFill>
                  <a:srgbClr val="F4F4F4"/>
                </a:solidFill>
                <a:latin typeface="Helvetica Now"/>
                <a:ea typeface="Helvetica Now"/>
                <a:cs typeface="Helvetica Now"/>
                <a:sym typeface="Helvetica Now"/>
              </a:rPr>
              <a:t>with interviews or survey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092354" y="3421712"/>
            <a:ext cx="5447024" cy="5159898"/>
          </a:xfrm>
          <a:custGeom>
            <a:avLst/>
            <a:gdLst/>
            <a:ahLst/>
            <a:cxnLst/>
            <a:rect r="r" b="b" t="t" l="l"/>
            <a:pathLst>
              <a:path h="5159898" w="5447024">
                <a:moveTo>
                  <a:pt x="0" y="0"/>
                </a:moveTo>
                <a:lnTo>
                  <a:pt x="5447024" y="0"/>
                </a:lnTo>
                <a:lnTo>
                  <a:pt x="5447024" y="5159898"/>
                </a:lnTo>
                <a:lnTo>
                  <a:pt x="0" y="51598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092354" y="3421712"/>
            <a:ext cx="4364182" cy="874559"/>
          </a:xfrm>
          <a:custGeom>
            <a:avLst/>
            <a:gdLst/>
            <a:ahLst/>
            <a:cxnLst/>
            <a:rect r="r" b="b" t="t" l="l"/>
            <a:pathLst>
              <a:path h="874559" w="4364182">
                <a:moveTo>
                  <a:pt x="0" y="0"/>
                </a:moveTo>
                <a:lnTo>
                  <a:pt x="4364182" y="0"/>
                </a:lnTo>
                <a:lnTo>
                  <a:pt x="436418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697266" y="3657659"/>
            <a:ext cx="4152305" cy="441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3"/>
              </a:lnSpc>
            </a:pPr>
            <a:r>
              <a:rPr lang="en-US" b="true" sz="2321" spc="-46">
                <a:solidFill>
                  <a:srgbClr val="F4F4F4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HOW WE’LL MEASURE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66683" y="4604015"/>
            <a:ext cx="4685924" cy="751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7"/>
              </a:lnSpc>
            </a:pPr>
            <a:r>
              <a:rPr lang="en-US" sz="1986" spc="-39">
                <a:solidFill>
                  <a:srgbClr val="F4F4F4"/>
                </a:solidFill>
                <a:latin typeface="Helvetica Now"/>
                <a:ea typeface="Helvetica Now"/>
                <a:cs typeface="Helvetica Now"/>
                <a:sym typeface="Helvetica Now"/>
              </a:rPr>
              <a:t>Confirm that identified specification inconsistencies have been corrected.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17036" y="5516936"/>
            <a:ext cx="4397661" cy="1929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6"/>
              </a:lnSpc>
            </a:pPr>
            <a:r>
              <a:rPr lang="en-US" sz="1986" spc="-39">
                <a:solidFill>
                  <a:srgbClr val="F4F4F4"/>
                </a:solidFill>
                <a:latin typeface="Helvetica Now"/>
                <a:ea typeface="Helvetica Now"/>
                <a:cs typeface="Helvetica Now"/>
                <a:sym typeface="Helvetica Now"/>
              </a:rPr>
              <a:t>Track search impressions, clicks and click-through rate, if Search Console data is available.</a:t>
            </a:r>
          </a:p>
          <a:p>
            <a:pPr algn="l">
              <a:lnSpc>
                <a:spcPts val="3176"/>
              </a:lnSpc>
            </a:pPr>
          </a:p>
          <a:p>
            <a:pPr algn="l">
              <a:lnSpc>
                <a:spcPts val="3177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6657342" y="6898130"/>
            <a:ext cx="4402323" cy="1203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sz="2047" spc="-40">
                <a:solidFill>
                  <a:srgbClr val="F4F4F4"/>
                </a:solidFill>
                <a:latin typeface="Helvetica Now"/>
                <a:ea typeface="Helvetica Now"/>
                <a:cs typeface="Helvetica Now"/>
                <a:sym typeface="Helvetica Now"/>
              </a:rPr>
              <a:t>Use research responses to assess relevance before testing a campaign or landing page.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645330" y="8570678"/>
            <a:ext cx="10894048" cy="1289974"/>
          </a:xfrm>
          <a:custGeom>
            <a:avLst/>
            <a:gdLst/>
            <a:ahLst/>
            <a:cxnLst/>
            <a:rect r="r" b="b" t="t" l="l"/>
            <a:pathLst>
              <a:path h="1289974" w="10894048">
                <a:moveTo>
                  <a:pt x="0" y="0"/>
                </a:moveTo>
                <a:lnTo>
                  <a:pt x="10894048" y="0"/>
                </a:lnTo>
                <a:lnTo>
                  <a:pt x="10894048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58410" y="8860071"/>
            <a:ext cx="9351927" cy="639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4"/>
              </a:lnSpc>
            </a:pPr>
            <a:r>
              <a:rPr lang="en-US" sz="3403" spc="-68" b="true">
                <a:solidFill>
                  <a:srgbClr val="D63632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We will not claim results</a:t>
            </a:r>
            <a:r>
              <a:rPr lang="en-US" sz="3403" spc="-68">
                <a:solidFill>
                  <a:srgbClr val="F4F4F4"/>
                </a:solidFill>
                <a:latin typeface="Helvetica Now"/>
                <a:ea typeface="Helvetica Now"/>
                <a:cs typeface="Helvetica Now"/>
                <a:sym typeface="Helvetica Now"/>
              </a:rPr>
              <a:t> before measurement.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1965952" y="2569017"/>
            <a:ext cx="5895474" cy="6865288"/>
          </a:xfrm>
          <a:custGeom>
            <a:avLst/>
            <a:gdLst/>
            <a:ahLst/>
            <a:cxnLst/>
            <a:rect r="r" b="b" t="t" l="l"/>
            <a:pathLst>
              <a:path h="6865288" w="5895474">
                <a:moveTo>
                  <a:pt x="0" y="0"/>
                </a:moveTo>
                <a:lnTo>
                  <a:pt x="5895474" y="0"/>
                </a:lnTo>
                <a:lnTo>
                  <a:pt x="5895474" y="6865288"/>
                </a:lnTo>
                <a:lnTo>
                  <a:pt x="0" y="686528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-279492">
            <a:off x="13341216" y="3493681"/>
            <a:ext cx="2710553" cy="1351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7"/>
              </a:lnSpc>
            </a:pPr>
            <a:r>
              <a:rPr lang="en-US" sz="5317" spc="106">
                <a:solidFill>
                  <a:srgbClr val="C3C9D6"/>
                </a:solidFill>
                <a:latin typeface="Helvetica Now"/>
                <a:ea typeface="Helvetica Now"/>
                <a:cs typeface="Helvetica Now"/>
                <a:sym typeface="Helvetica Now"/>
              </a:rPr>
              <a:t>ACTION PLAN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3497244" y="4711687"/>
            <a:ext cx="2614134" cy="655919"/>
          </a:xfrm>
          <a:custGeom>
            <a:avLst/>
            <a:gdLst/>
            <a:ahLst/>
            <a:cxnLst/>
            <a:rect r="r" b="b" t="t" l="l"/>
            <a:pathLst>
              <a:path h="655919" w="2614134">
                <a:moveTo>
                  <a:pt x="0" y="0"/>
                </a:moveTo>
                <a:lnTo>
                  <a:pt x="2614134" y="0"/>
                </a:lnTo>
                <a:lnTo>
                  <a:pt x="261413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-279492">
            <a:off x="13333333" y="5706904"/>
            <a:ext cx="374972" cy="484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4"/>
              </a:lnSpc>
            </a:pPr>
            <a:r>
              <a:rPr lang="en-US" sz="3794" spc="75">
                <a:solidFill>
                  <a:srgbClr val="C3C9D6"/>
                </a:solidFill>
                <a:latin typeface="Helvetica Now"/>
                <a:ea typeface="Helvetica Now"/>
                <a:cs typeface="Helvetica Now"/>
                <a:sym typeface="Helvetica Now"/>
              </a:rPr>
              <a:t>1.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3923818" y="5783021"/>
            <a:ext cx="2406316" cy="437279"/>
          </a:xfrm>
          <a:custGeom>
            <a:avLst/>
            <a:gdLst/>
            <a:ahLst/>
            <a:cxnLst/>
            <a:rect r="r" b="b" t="t" l="l"/>
            <a:pathLst>
              <a:path h="437279" w="2406316">
                <a:moveTo>
                  <a:pt x="0" y="0"/>
                </a:moveTo>
                <a:lnTo>
                  <a:pt x="2406316" y="0"/>
                </a:lnTo>
                <a:lnTo>
                  <a:pt x="2406316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-279492">
            <a:off x="13386278" y="6425698"/>
            <a:ext cx="478272" cy="513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4"/>
              </a:lnSpc>
            </a:pPr>
            <a:r>
              <a:rPr lang="en-US" sz="3854" spc="77">
                <a:solidFill>
                  <a:srgbClr val="C3C9D6"/>
                </a:solidFill>
                <a:latin typeface="Helvetica Now"/>
                <a:ea typeface="Helvetica Now"/>
                <a:cs typeface="Helvetica Now"/>
                <a:sym typeface="Helvetica Now"/>
              </a:rPr>
              <a:t>2.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3923818" y="6428009"/>
            <a:ext cx="2625072" cy="437279"/>
          </a:xfrm>
          <a:custGeom>
            <a:avLst/>
            <a:gdLst/>
            <a:ahLst/>
            <a:cxnLst/>
            <a:rect r="r" b="b" t="t" l="l"/>
            <a:pathLst>
              <a:path h="437279" w="2625072">
                <a:moveTo>
                  <a:pt x="0" y="0"/>
                </a:moveTo>
                <a:lnTo>
                  <a:pt x="2625072" y="0"/>
                </a:lnTo>
                <a:lnTo>
                  <a:pt x="262507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-279492">
            <a:off x="13440986" y="7177065"/>
            <a:ext cx="494851" cy="52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1"/>
              </a:lnSpc>
            </a:pPr>
            <a:r>
              <a:rPr lang="en-US" sz="4031" spc="80">
                <a:solidFill>
                  <a:srgbClr val="C3C9D6"/>
                </a:solidFill>
                <a:latin typeface="Helvetica Now"/>
                <a:ea typeface="Helvetica Now"/>
                <a:cs typeface="Helvetica Now"/>
                <a:sym typeface="Helvetica Now"/>
              </a:rPr>
              <a:t>3.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3923818" y="7280704"/>
            <a:ext cx="2625072" cy="437279"/>
          </a:xfrm>
          <a:custGeom>
            <a:avLst/>
            <a:gdLst/>
            <a:ahLst/>
            <a:cxnLst/>
            <a:rect r="r" b="b" t="t" l="l"/>
            <a:pathLst>
              <a:path h="437279" w="2625072">
                <a:moveTo>
                  <a:pt x="0" y="0"/>
                </a:moveTo>
                <a:lnTo>
                  <a:pt x="2625072" y="0"/>
                </a:lnTo>
                <a:lnTo>
                  <a:pt x="262507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7412976" y="3640352"/>
            <a:ext cx="875024" cy="4941258"/>
          </a:xfrm>
          <a:custGeom>
            <a:avLst/>
            <a:gdLst/>
            <a:ahLst/>
            <a:cxnLst/>
            <a:rect r="r" b="b" t="t" l="l"/>
            <a:pathLst>
              <a:path h="4941258" w="875024">
                <a:moveTo>
                  <a:pt x="0" y="0"/>
                </a:moveTo>
                <a:lnTo>
                  <a:pt x="875024" y="0"/>
                </a:lnTo>
                <a:lnTo>
                  <a:pt x="875024" y="4941258"/>
                </a:lnTo>
                <a:lnTo>
                  <a:pt x="0" y="494125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017984" y="3657659"/>
            <a:ext cx="4152305" cy="441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3"/>
              </a:lnSpc>
            </a:pPr>
            <a:r>
              <a:rPr lang="en-US" b="true" sz="2321" spc="-46">
                <a:solidFill>
                  <a:srgbClr val="F4F4F4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NEXT STEPS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51818" y="0"/>
            <a:ext cx="8936182" cy="6646648"/>
          </a:xfrm>
          <a:custGeom>
            <a:avLst/>
            <a:gdLst/>
            <a:ahLst/>
            <a:cxnLst/>
            <a:rect r="r" b="b" t="t" l="l"/>
            <a:pathLst>
              <a:path h="6646648" w="8936182">
                <a:moveTo>
                  <a:pt x="0" y="0"/>
                </a:moveTo>
                <a:lnTo>
                  <a:pt x="8936182" y="0"/>
                </a:lnTo>
                <a:lnTo>
                  <a:pt x="8936182" y="6646648"/>
                </a:lnTo>
                <a:lnTo>
                  <a:pt x="0" y="66466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26842" y="5356674"/>
            <a:ext cx="8061158" cy="4503979"/>
          </a:xfrm>
          <a:custGeom>
            <a:avLst/>
            <a:gdLst/>
            <a:ahLst/>
            <a:cxnLst/>
            <a:rect r="r" b="b" t="t" l="l"/>
            <a:pathLst>
              <a:path h="4503979" w="8061158">
                <a:moveTo>
                  <a:pt x="0" y="0"/>
                </a:moveTo>
                <a:lnTo>
                  <a:pt x="8061158" y="0"/>
                </a:lnTo>
                <a:lnTo>
                  <a:pt x="8061158" y="4503978"/>
                </a:lnTo>
                <a:lnTo>
                  <a:pt x="0" y="45039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840976" y="3214004"/>
            <a:ext cx="4145426" cy="4296271"/>
          </a:xfrm>
          <a:custGeom>
            <a:avLst/>
            <a:gdLst/>
            <a:ahLst/>
            <a:cxnLst/>
            <a:rect r="r" b="b" t="t" l="l"/>
            <a:pathLst>
              <a:path h="4296271" w="4145426">
                <a:moveTo>
                  <a:pt x="0" y="0"/>
                </a:moveTo>
                <a:lnTo>
                  <a:pt x="4145426" y="0"/>
                </a:lnTo>
                <a:lnTo>
                  <a:pt x="4145426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570574" y="7925691"/>
            <a:ext cx="5239206" cy="2361309"/>
          </a:xfrm>
          <a:custGeom>
            <a:avLst/>
            <a:gdLst/>
            <a:ahLst/>
            <a:cxnLst/>
            <a:rect r="r" b="b" t="t" l="l"/>
            <a:pathLst>
              <a:path h="2361309" w="5239206">
                <a:moveTo>
                  <a:pt x="0" y="0"/>
                </a:moveTo>
                <a:lnTo>
                  <a:pt x="5239206" y="0"/>
                </a:lnTo>
                <a:lnTo>
                  <a:pt x="5239206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68399" y="1191603"/>
            <a:ext cx="12096020" cy="940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8"/>
              </a:lnSpc>
            </a:pPr>
            <a:r>
              <a:rPr lang="en-US" sz="7138" spc="-212" b="true">
                <a:solidFill>
                  <a:srgbClr val="FAFAFA"/>
                </a:solidFill>
                <a:latin typeface="Helvetica Now Heavy"/>
                <a:ea typeface="Helvetica Now Heavy"/>
                <a:cs typeface="Helvetica Now Heavy"/>
                <a:sym typeface="Helvetica Now Heavy"/>
              </a:rPr>
              <a:t>Clarify. </a:t>
            </a:r>
            <a:r>
              <a:rPr lang="en-US" sz="7138" spc="-212" b="true">
                <a:solidFill>
                  <a:srgbClr val="CB312F"/>
                </a:solidFill>
                <a:latin typeface="Helvetica Now Heavy"/>
                <a:ea typeface="Helvetica Now Heavy"/>
                <a:cs typeface="Helvetica Now Heavy"/>
                <a:sym typeface="Helvetica Now Heavy"/>
              </a:rPr>
              <a:t>Compare.</a:t>
            </a:r>
            <a:r>
              <a:rPr lang="en-US" sz="7138" spc="-212" b="true">
                <a:solidFill>
                  <a:srgbClr val="FAFAFA"/>
                </a:solidFill>
                <a:latin typeface="Helvetica Now Heavy"/>
                <a:ea typeface="Helvetica Now Heavy"/>
                <a:cs typeface="Helvetica Now Heavy"/>
                <a:sym typeface="Helvetica Now Heavy"/>
              </a:rPr>
              <a:t> Validate.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26574" y="2350377"/>
            <a:ext cx="1542230" cy="229572"/>
          </a:xfrm>
          <a:custGeom>
            <a:avLst/>
            <a:gdLst/>
            <a:ahLst/>
            <a:cxnLst/>
            <a:rect r="r" b="b" t="t" l="l"/>
            <a:pathLst>
              <a:path h="229572" w="1542230">
                <a:moveTo>
                  <a:pt x="0" y="0"/>
                </a:moveTo>
                <a:lnTo>
                  <a:pt x="1542230" y="0"/>
                </a:lnTo>
                <a:lnTo>
                  <a:pt x="154223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80528" y="2926076"/>
            <a:ext cx="3562063" cy="389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2"/>
              </a:lnSpc>
            </a:pPr>
            <a:r>
              <a:rPr lang="en-US" b="true" sz="2487" spc="-24">
                <a:solidFill>
                  <a:srgbClr val="CB312F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SOURCES CONSULTED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0068" y="3492574"/>
            <a:ext cx="7608057" cy="380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5"/>
              </a:lnSpc>
            </a:pPr>
            <a:r>
              <a:rPr lang="en-US" sz="2443" spc="-72">
                <a:solidFill>
                  <a:srgbClr val="FAFAFA"/>
                </a:solidFill>
                <a:latin typeface="Helvetica Now"/>
                <a:ea typeface="Helvetica Now"/>
                <a:cs typeface="Helvetica Now"/>
                <a:sym typeface="Helvetica Now"/>
              </a:rPr>
              <a:t>https://www.boat-lifestyle.com/products/airdopes-131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4231" y="4025517"/>
            <a:ext cx="7191716" cy="389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2"/>
              </a:lnSpc>
            </a:pPr>
            <a:r>
              <a:rPr lang="en-US" sz="2487" spc="-74">
                <a:solidFill>
                  <a:srgbClr val="FAFAFA"/>
                </a:solidFill>
                <a:latin typeface="Helvetica Now"/>
                <a:ea typeface="Helvetica Now"/>
                <a:cs typeface="Helvetica Now"/>
                <a:sym typeface="Helvetica Now"/>
              </a:rPr>
              <a:t>https://www.boat-lifestyle.com/pages/who-are-we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11478" y="4567708"/>
            <a:ext cx="10467086" cy="389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2"/>
              </a:lnSpc>
            </a:pPr>
            <a:r>
              <a:rPr lang="en-US" sz="2487" spc="-74">
                <a:solidFill>
                  <a:srgbClr val="FAFAFA"/>
                </a:solidFill>
                <a:latin typeface="Helvetica Now"/>
                <a:ea typeface="Helvetica Now"/>
                <a:cs typeface="Helvetica Now"/>
                <a:sym typeface="Helvetica Now"/>
              </a:rPr>
              <a:t>https://www.gonoise.com/products/noise-buds-n1-truly-wireless-earbuds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55957" y="5119145"/>
            <a:ext cx="6019175" cy="380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5"/>
              </a:lnSpc>
            </a:pPr>
            <a:r>
              <a:rPr lang="en-US" sz="2443" spc="-72">
                <a:solidFill>
                  <a:srgbClr val="FAFAFA"/>
                </a:solidFill>
                <a:latin typeface="Helvetica Now"/>
                <a:ea typeface="Helvetica Now"/>
                <a:cs typeface="Helvetica Now"/>
                <a:sym typeface="Helvetica Now"/>
              </a:rPr>
              <a:t>https://www.boultaudio.com/products/z40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57510" y="5676396"/>
            <a:ext cx="9234153" cy="380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5"/>
              </a:lnSpc>
            </a:pPr>
            <a:r>
              <a:rPr lang="en-US" sz="2443" spc="-72">
                <a:solidFill>
                  <a:srgbClr val="FAFAFA"/>
                </a:solidFill>
                <a:latin typeface="Helvetica Now"/>
                <a:ea typeface="Helvetica Now"/>
                <a:cs typeface="Helvetica Now"/>
                <a:sym typeface="Helvetica Now"/>
              </a:rPr>
              <a:t>https://www.instagram.com/boat.nirvana/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DAHYh0BJH-I</dc:identifier>
  <dcterms:modified xsi:type="dcterms:W3CDTF">2011-08-01T06:04:30Z</dcterms:modified>
  <cp:revision>1</cp:revision>
  <dc:title>Beyond the Bass Audit</dc:title>
</cp:coreProperties>
</file>